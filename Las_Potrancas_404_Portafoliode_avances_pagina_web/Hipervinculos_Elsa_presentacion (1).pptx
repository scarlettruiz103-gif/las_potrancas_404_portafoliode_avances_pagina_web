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01" r:id="rId6"/>
    <p:sldId id="302" r:id="rId7"/>
    <p:sldId id="303" r:id="rId8"/>
    <p:sldId id="307" r:id="rId9"/>
    <p:sldId id="305" r:id="rId10"/>
    <p:sldId id="312" r:id="rId11"/>
    <p:sldId id="285" r:id="rId12"/>
    <p:sldId id="313" r:id="rId13"/>
    <p:sldId id="310" r:id="rId14"/>
    <p:sldId id="311" r:id="rId1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55C2E-C89C-456E-AFE4-F6A8CEB5F3ED}" v="957" dt="2026-03-17T03:32:26.492"/>
    <p1510:client id="{888F7094-6569-4E7E-898D-9D82D9B99A9B}" v="5163" dt="2026-03-17T03:06:46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7" autoAdjust="0"/>
    <p:restoredTop sz="93595" autoAdjust="0"/>
  </p:normalViewPr>
  <p:slideViewPr>
    <p:cSldViewPr snapToGrid="0">
      <p:cViewPr varScale="1">
        <p:scale>
          <a:sx n="106" d="100"/>
          <a:sy n="106" d="100"/>
        </p:scale>
        <p:origin x="642" y="108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7E02CF2-CF18-4A9D-8B05-2FFC7B52A6E4}" type="datetime1">
              <a:rPr lang="es-ES" smtClean="0"/>
              <a:t>16/03/2026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7C8AB8-F519-4C44-A217-B2548CA6E5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414F4-6BF4-4863-8728-11DAD85A25A0}" type="datetime1">
              <a:rPr lang="es-ES" smtClean="0"/>
              <a:pPr/>
              <a:t>16/03/2026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303549-A82F-409E-AD53-534267A0E10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0797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9067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4090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1041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086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4553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5C3BE-A680-000B-5E99-B75B3B03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872DDF-9711-0661-0796-F0F66C788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94E164-0914-0C44-18C7-A4B169EE0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B4D993-6FB3-61D5-1185-1B2C624DC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9002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2815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7E30-80B9-0B00-0F65-116ECC77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4B2DE5-5779-C5B1-AC79-78F2FBA45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98977F-8139-B6F7-4BB9-C4C566E20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6043B1-5069-8DFF-736A-36E8A7654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351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5341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6205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rtlCol="0"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osot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rtlCol="0" anchor="b" anchorCtr="0"/>
          <a:lstStyle/>
          <a:p>
            <a:pPr rtl="0"/>
            <a:r>
              <a:rPr lang="es-ES" noProof="0"/>
              <a:t>HAGA CLIC PARA EDITAR EL TÍTULO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rtlCol="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es-ES" noProof="0"/>
              <a:t>Acerca de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23" name="Marcador de texto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rtlCol="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es-ES" noProof="0"/>
              <a:t>Problema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8" name="Marcador de texto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0" name="Marcador de texto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2" name="Marcador de texto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2" name="Marcador de texto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4" name="Marcador de texto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produ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 rtlCol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9" name="Marcador de texto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tajas del produ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 rtlCol="0"/>
          <a:lstStyle/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es-ES" noProof="0"/>
              <a:t>Ventajas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rtlCol="0"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nego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2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 rtlCol="0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3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 rtlCol="0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4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  <p:sp>
        <p:nvSpPr>
          <p:cNvPr id="16" name="Marcador de fecha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posición de imagen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s-ES" noProof="0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rtlCol="0"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1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2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3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fecha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1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2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 rtl="0"/>
            <a:r>
              <a:rPr lang="es-ES" noProof="0"/>
              <a:t>3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5" name="Marcador de fecha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estra compete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rtlCol="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c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Marcador de posición de imagen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  <p:sp>
        <p:nvSpPr>
          <p:cNvPr id="17" name="Marcador de fecha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2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3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4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Descripción de la viñeta</a:t>
            </a:r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d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5" name="Marcador de texto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 del cuadrante</a:t>
            </a:r>
          </a:p>
        </p:txBody>
      </p:sp>
      <p:sp>
        <p:nvSpPr>
          <p:cNvPr id="16" name="Marcador de texto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 del cuadrante</a:t>
            </a:r>
          </a:p>
        </p:txBody>
      </p:sp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 del cuadrante</a:t>
            </a:r>
          </a:p>
        </p:txBody>
      </p:sp>
      <p:sp>
        <p:nvSpPr>
          <p:cNvPr id="18" name="Marcador de texto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 del cuadrante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arcador de fecha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el subtítulo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38" name="Marcador de texto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39" name="Marcador de texto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0" name="Marcador de texto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1" name="Marcador de texto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2" name="Marcador de texto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3" name="Marcador de texto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44" name="Marcador de texto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5" name="Marcador de texto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6" name="Marcador de texto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7" name="Marcador de texto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8" name="Marcador de texto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49" name="Marcador de texto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0" name="Marcador de texto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1" name="Marcador de texto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2" name="Marcador de texto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3" name="Marcador de texto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4" name="Marcador de texto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5" name="Marcador de texto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6" name="Marcador de texto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7" name="Marcador de texto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8" name="Marcador de texto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59" name="Marcador de texto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60" name="Marcador de texto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61" name="Marcador de texto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62" name="Marcador de texto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63" name="Marcador de texto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65" name="Marcador de texto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rtlCol="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 del elemento</a:t>
            </a:r>
          </a:p>
        </p:txBody>
      </p:sp>
      <p:sp>
        <p:nvSpPr>
          <p:cNvPr id="67" name="Marcador de fecha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28" name="Marcador de posición de imagen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4" name="Marcador de posición de imagen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3" name="Marcador de posición de imagen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2" name="Marcador de posición de imagen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5" name="Marcador de posición de imagen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6" name="Marcador de posición de imagen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7" name="Marcador de posición de imagen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28" name="Marcador de texto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8" name="Marcador de posición de imagen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endParaRPr lang="es-ES" noProof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32" name="Marcador de texto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SUBTÍTULO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SUBTÍTULO</a:t>
            </a:r>
          </a:p>
        </p:txBody>
      </p:sp>
      <p:sp>
        <p:nvSpPr>
          <p:cNvPr id="21" name="Marcador de texto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2" name="Marcador de contenido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SUBTÍTULO</a:t>
            </a:r>
          </a:p>
        </p:txBody>
      </p:sp>
      <p:sp>
        <p:nvSpPr>
          <p:cNvPr id="24" name="Marcador de texto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5" name="Marcador de contenido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es-ES" noProof="0"/>
              <a:t>HAGA CLIC PARA EDITAR SUBTÍTULO</a:t>
            </a:r>
          </a:p>
        </p:txBody>
      </p:sp>
      <p:sp>
        <p:nvSpPr>
          <p:cNvPr id="27" name="Marcador de texto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8" name="Marcador de contenido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29" name="Marcador de texto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30" name="Marcador de texto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31" name="Marcador de texto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32" name="Marcador de texto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rtlCol="0"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199"/>
            <a:ext cx="207818" cy="3749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es-ES" noProof="0"/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endParaRPr lang="es-ES" noProof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 rtl="0"/>
            <a:r>
              <a:rPr lang="es-ES" noProof="0"/>
              <a:t>Haga clic para editar el texto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rtlCol="0"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 noProof="0"/>
              <a:t>14/7/20XX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 noProof="0"/>
              <a:t>14/7/20XX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endParaRPr lang="es-ES" noProof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 noProof="0"/>
              <a:t>14/7/20XX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14/7/20XX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/>
              <a:t>Título de la 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hyperlink" Target="mailto:%3cahref=%3e%3emalillto:contacto@ejemplo.com?subject=Consulta%20de%20informacion=title=%3E%3EEnviar" TargetMode="External"/><Relationship Id="rId4" Type="http://schemas.openxmlformats.org/officeDocument/2006/relationships/hyperlink" Target="mailto:%3cahref=%3e%3emalillto:contacto@ejemplo.com?subject=Consulta%20de%20informacion=title=%3e%3eEnvia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hyperlink" Target="mailto:%3cahref=%3e%3emalillto:contacto@ejemplo.com?subject=Consulta%20de%20informacion=title=%3E%3EEnviar" TargetMode="External"/><Relationship Id="rId4" Type="http://schemas.openxmlformats.org/officeDocument/2006/relationships/hyperlink" Target="mailto:%3cahref=%3e%3emalillto:contacto@ejemplo.com?subject=Consulta%20de%20informacion=title=%3e%3eEnviar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 descr="fotografía de un puente con cables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514" y="4488388"/>
            <a:ext cx="9123124" cy="1031268"/>
          </a:xfrm>
        </p:spPr>
        <p:txBody>
          <a:bodyPr rtlCol="0" anchor="b">
            <a:normAutofit fontScale="90000"/>
          </a:bodyPr>
          <a:lstStyle/>
          <a:p>
            <a:r>
              <a:rPr lang="es-ES"/>
              <a:t>Hipervínculo</a:t>
            </a:r>
            <a:r>
              <a:rPr lang="es-ES" dirty="0"/>
              <a:t> en App Web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8407" y="5914439"/>
            <a:ext cx="7953375" cy="457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>
                <a:ea typeface="Source Sans Pro"/>
              </a:rPr>
              <a:t>Informática</a:t>
            </a:r>
            <a:r>
              <a:rPr lang="es-ES" dirty="0">
                <a:ea typeface="Source Sans Pro"/>
              </a:rPr>
              <a:t> - 404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ción de imagen 8" descr="fotografía de una persona usando un portátil">
            <a:extLst>
              <a:ext uri="{FF2B5EF4-FFF2-40B4-BE49-F238E27FC236}">
                <a16:creationId xmlns:a16="http://schemas.microsoft.com/office/drawing/2014/main" id="{580459A6-74F1-49C9-B51B-9878E21EB1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0"/>
            <a:ext cx="11961813" cy="68580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98444"/>
            <a:ext cx="5070118" cy="1331935"/>
          </a:xfrm>
        </p:spPr>
        <p:txBody>
          <a:bodyPr rtlCol="0" anchor="b" anchorCtr="0">
            <a:normAutofit/>
          </a:bodyPr>
          <a:lstStyle/>
          <a:p>
            <a:r>
              <a:rPr lang="es-ES"/>
              <a:t>     ¿Que son los </a:t>
            </a:r>
            <a:r>
              <a:rPr lang="es-ES" dirty="0"/>
              <a:t>HIPERVINCULOS?</a:t>
            </a:r>
            <a:endParaRPr lang="es-ES" sz="5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A6B3EAB-A692-6D75-27AE-D55482365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898" y="3429335"/>
            <a:ext cx="4433378" cy="29227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1600" dirty="0">
                <a:latin typeface="Arial"/>
                <a:ea typeface="Source Sans Pro"/>
                <a:cs typeface="Arial"/>
              </a:rPr>
              <a:t>Un hipervínculo, también conocido como enlace o link, es un elemento que conecta un texto, imagen o </a:t>
            </a:r>
            <a:r>
              <a:rPr lang="es-ES" sz="1600" dirty="0" err="1">
                <a:latin typeface="Arial"/>
                <a:ea typeface="Source Sans Pro"/>
                <a:cs typeface="Arial"/>
              </a:rPr>
              <a:t>boton</a:t>
            </a:r>
            <a:r>
              <a:rPr lang="es-ES" sz="1600" dirty="0">
                <a:latin typeface="Arial"/>
                <a:ea typeface="Source Sans Pro"/>
                <a:cs typeface="Arial"/>
              </a:rPr>
              <a:t> en una </a:t>
            </a:r>
            <a:r>
              <a:rPr lang="es-ES" sz="1600" dirty="0" err="1">
                <a:latin typeface="Arial"/>
                <a:ea typeface="Source Sans Pro"/>
                <a:cs typeface="Arial"/>
              </a:rPr>
              <a:t>pagina</a:t>
            </a:r>
            <a:r>
              <a:rPr lang="es-ES" sz="1600" dirty="0">
                <a:latin typeface="Arial"/>
                <a:ea typeface="Source Sans Pro"/>
                <a:cs typeface="Arial"/>
              </a:rPr>
              <a:t> web a otro recurso, que puede ser otra </a:t>
            </a:r>
            <a:r>
              <a:rPr lang="es-ES" sz="1600" dirty="0" err="1">
                <a:latin typeface="Arial"/>
                <a:ea typeface="Source Sans Pro"/>
                <a:cs typeface="Arial"/>
              </a:rPr>
              <a:t>pagina</a:t>
            </a:r>
            <a:r>
              <a:rPr lang="es-ES" sz="1600" dirty="0">
                <a:latin typeface="Arial"/>
                <a:ea typeface="Source Sans Pro"/>
                <a:cs typeface="Arial"/>
              </a:rPr>
              <a:t> web, un documento, una imagen, un video o cualquier tipo de contenido disponible en línea.</a:t>
            </a:r>
          </a:p>
          <a:p>
            <a:r>
              <a:rPr lang="es-ES" sz="1600" dirty="0">
                <a:latin typeface="Arial"/>
                <a:ea typeface="Source Sans Pro"/>
                <a:cs typeface="Arial"/>
              </a:rPr>
              <a:t>Su </a:t>
            </a:r>
            <a:r>
              <a:rPr lang="es-ES" sz="1600">
                <a:latin typeface="Arial"/>
                <a:ea typeface="Source Sans Pro"/>
                <a:cs typeface="Arial"/>
              </a:rPr>
              <a:t>función</a:t>
            </a:r>
            <a:r>
              <a:rPr lang="es-ES" sz="1600" dirty="0">
                <a:latin typeface="Arial"/>
                <a:ea typeface="Source Sans Pro"/>
                <a:cs typeface="Arial"/>
              </a:rPr>
              <a:t> principal es mejorar la experiencia de </a:t>
            </a:r>
            <a:r>
              <a:rPr lang="es-ES" sz="1600">
                <a:latin typeface="Arial"/>
                <a:ea typeface="Source Sans Pro"/>
                <a:cs typeface="Arial"/>
              </a:rPr>
              <a:t>navegación</a:t>
            </a:r>
            <a:r>
              <a:rPr lang="es-ES" sz="1600" dirty="0">
                <a:latin typeface="Arial"/>
                <a:ea typeface="Source Sans Pro"/>
                <a:cs typeface="Arial"/>
              </a:rPr>
              <a:t>, permitiendo a los lectores saltar de una parte a otra sin perder tiempo.</a:t>
            </a:r>
          </a:p>
        </p:txBody>
      </p:sp>
    </p:spTree>
    <p:extLst>
      <p:ext uri="{BB962C8B-B14F-4D97-AF65-F5344CB8AC3E}">
        <p14:creationId xmlns:p14="http://schemas.microsoft.com/office/powerpoint/2010/main" val="831733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8562475" cy="1325563"/>
          </a:xfrm>
        </p:spPr>
        <p:txBody>
          <a:bodyPr rtlCol="0"/>
          <a:lstStyle/>
          <a:p>
            <a:r>
              <a:rPr lang="es-ES"/>
              <a:t>TIPOS DE HIPERVINCULOS</a:t>
            </a:r>
            <a:endParaRPr lang="es-ES" dirty="0"/>
          </a:p>
        </p:txBody>
      </p:sp>
      <p:sp>
        <p:nvSpPr>
          <p:cNvPr id="47" name="Marcador de texto 46">
            <a:extLst>
              <a:ext uri="{FF2B5EF4-FFF2-40B4-BE49-F238E27FC236}">
                <a16:creationId xmlns:a16="http://schemas.microsoft.com/office/drawing/2014/main" id="{5B76A604-CBAD-4494-A846-E4C833A609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801" y="1916113"/>
            <a:ext cx="3886200" cy="320040"/>
          </a:xfrm>
        </p:spPr>
        <p:txBody>
          <a:bodyPr rtlCol="0"/>
          <a:lstStyle/>
          <a:p>
            <a:pPr rtl="0"/>
            <a:r>
              <a:rPr lang="es-ES"/>
              <a:t>COSTES</a:t>
            </a:r>
          </a:p>
        </p:txBody>
      </p:sp>
      <p:sp>
        <p:nvSpPr>
          <p:cNvPr id="48" name="Marcador de texto 47">
            <a:extLst>
              <a:ext uri="{FF2B5EF4-FFF2-40B4-BE49-F238E27FC236}">
                <a16:creationId xmlns:a16="http://schemas.microsoft.com/office/drawing/2014/main" id="{BF07FAC4-029F-4076-B784-683A1CCA68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0675" y="2242336"/>
            <a:ext cx="3886200" cy="91440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Pérdida de ingresos potenciales por no ofrecer oportunidades de inversión para empresas</a:t>
            </a:r>
          </a:p>
        </p:txBody>
      </p:sp>
      <p:sp>
        <p:nvSpPr>
          <p:cNvPr id="49" name="Marcador de texto 48">
            <a:extLst>
              <a:ext uri="{FF2B5EF4-FFF2-40B4-BE49-F238E27FC236}">
                <a16:creationId xmlns:a16="http://schemas.microsoft.com/office/drawing/2014/main" id="{BEEA5224-6F24-4134-84A4-4BB922BE15D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90801" y="3218688"/>
            <a:ext cx="3886200" cy="320040"/>
          </a:xfrm>
        </p:spPr>
        <p:txBody>
          <a:bodyPr rtlCol="0"/>
          <a:lstStyle/>
          <a:p>
            <a:pPr rtl="0"/>
            <a:r>
              <a:rPr lang="es-ES"/>
              <a:t>USABILIDAD</a:t>
            </a: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6DC9F3A7-D8E7-4ABC-8153-8AFB777CAC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90675" y="3545967"/>
            <a:ext cx="3886200" cy="91440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Los clientes quieren algo que sea fácil de adoptar y de usar</a:t>
            </a:r>
          </a:p>
        </p:txBody>
      </p:sp>
      <p:sp>
        <p:nvSpPr>
          <p:cNvPr id="150" name="Marcador de pie de página 149">
            <a:extLst>
              <a:ext uri="{FF2B5EF4-FFF2-40B4-BE49-F238E27FC236}">
                <a16:creationId xmlns:a16="http://schemas.microsoft.com/office/drawing/2014/main" id="{BF3830E9-8071-46F4-9061-47A9D527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 de lanzamiento</a:t>
            </a:r>
          </a:p>
        </p:txBody>
      </p:sp>
      <p:pic>
        <p:nvPicPr>
          <p:cNvPr id="7" name="Marcador de posición de imagen 6" descr="comportamiento de los hipervínculos">
            <a:extLst>
              <a:ext uri="{FF2B5EF4-FFF2-40B4-BE49-F238E27FC236}">
                <a16:creationId xmlns:a16="http://schemas.microsoft.com/office/drawing/2014/main" id="{D1296A9E-ECED-E7E5-9C99-E443AD67CD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7802" b="7802"/>
          <a:stretch/>
        </p:blipFill>
        <p:spPr>
          <a:xfrm>
            <a:off x="1" y="2"/>
            <a:ext cx="12191998" cy="6857998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4D9D9">
              <a:lumMod val="20000"/>
              <a:lumOff val="80000"/>
            </a:srgbClr>
          </a:solidFill>
        </p:spPr>
      </p:pic>
      <p:sp>
        <p:nvSpPr>
          <p:cNvPr id="41" name="Marcador de texto 40">
            <a:extLst>
              <a:ext uri="{FF2B5EF4-FFF2-40B4-BE49-F238E27FC236}">
                <a16:creationId xmlns:a16="http://schemas.microsoft.com/office/drawing/2014/main" id="{96363A03-E425-4DF0-A245-F0EEE2D043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76469"/>
            <a:ext cx="10026650" cy="4754562"/>
          </a:xfrm>
        </p:spPr>
        <p:txBody>
          <a:bodyPr vert="horz" lIns="1005840" tIns="502920" rIns="91440" bIns="45720" rtlCol="0" anchor="t">
            <a:noAutofit/>
          </a:bodyPr>
          <a:lstStyle/>
          <a:p>
            <a:r>
              <a:rPr lang="es-ES" sz="2400"/>
              <a:t>TIPOS DE HIPERVINCOS: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566D03D-4C2A-910B-6685-D940ECEDDB23}"/>
              </a:ext>
            </a:extLst>
          </p:cNvPr>
          <p:cNvSpPr txBox="1"/>
          <p:nvPr/>
        </p:nvSpPr>
        <p:spPr>
          <a:xfrm>
            <a:off x="420027" y="2632171"/>
            <a:ext cx="4088267" cy="3178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69D8C3B-0B03-BE06-0B5F-6BD4DD9A976E}"/>
              </a:ext>
            </a:extLst>
          </p:cNvPr>
          <p:cNvSpPr txBox="1"/>
          <p:nvPr/>
        </p:nvSpPr>
        <p:spPr>
          <a:xfrm>
            <a:off x="4897007" y="2499787"/>
            <a:ext cx="513815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selawik semibold"/>
                <a:ea typeface="source sans pro"/>
                <a:cs typeface="Segoe UI"/>
              </a:rPr>
              <a:t>Hipervínculo externo: </a:t>
            </a:r>
            <a:r>
              <a:rPr lang="es-ES" dirty="0">
                <a:latin typeface="selawik semibold"/>
                <a:ea typeface="Source Sans Pro"/>
                <a:cs typeface="Segoe UI"/>
              </a:rPr>
              <a:t>Redirige a </a:t>
            </a:r>
            <a:r>
              <a:rPr lang="es-ES" dirty="0" err="1">
                <a:latin typeface="selawik semibold"/>
                <a:ea typeface="Source Sans Pro"/>
                <a:cs typeface="Segoe UI"/>
              </a:rPr>
              <a:t>paginas</a:t>
            </a:r>
            <a:r>
              <a:rPr lang="es-ES" dirty="0">
                <a:latin typeface="selawik semibold"/>
                <a:ea typeface="Source Sans Pro"/>
                <a:cs typeface="Segoe UI"/>
              </a:rPr>
              <a:t> web o documentos que no pertenecen al archivo original.</a:t>
            </a:r>
          </a:p>
          <a:p>
            <a:endParaRPr lang="es-ES" dirty="0">
              <a:latin typeface="selawik semibold"/>
              <a:ea typeface="Source Sans Pro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selawik semibold"/>
                <a:ea typeface="Source Sans Pro"/>
                <a:cs typeface="Segoe UI"/>
              </a:rPr>
              <a:t>Hipervínculo a correo electrónico:</a:t>
            </a:r>
            <a:r>
              <a:rPr lang="es-ES" dirty="0">
                <a:latin typeface="selawik semibold"/>
                <a:ea typeface="Source Sans Pro"/>
                <a:cs typeface="Segoe UI"/>
              </a:rPr>
              <a:t> Facilita la </a:t>
            </a:r>
            <a:r>
              <a:rPr lang="es-ES" dirty="0" err="1">
                <a:latin typeface="selawik semibold"/>
                <a:ea typeface="Source Sans Pro"/>
                <a:cs typeface="Segoe UI"/>
              </a:rPr>
              <a:t>creacion</a:t>
            </a:r>
            <a:r>
              <a:rPr lang="es-ES" dirty="0">
                <a:latin typeface="selawik semibold"/>
                <a:ea typeface="Source Sans Pro"/>
                <a:cs typeface="Segoe UI"/>
              </a:rPr>
              <a:t> de un enlace que abre una aplicación de correo con una dirección predefinida.</a:t>
            </a:r>
          </a:p>
          <a:p>
            <a:endParaRPr lang="es-ES" dirty="0">
              <a:latin typeface="selawik semibold"/>
              <a:ea typeface="Source Sans Pro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selawik semibold"/>
                <a:ea typeface="Source Sans Pro"/>
                <a:cs typeface="Segoe UI"/>
              </a:rPr>
              <a:t>Hipervínculo a número telefónico:</a:t>
            </a:r>
            <a:r>
              <a:rPr lang="es-ES" dirty="0">
                <a:latin typeface="selawik semibold"/>
                <a:ea typeface="Source Sans Pro"/>
                <a:cs typeface="Segoe UI"/>
              </a:rPr>
              <a:t> Posibilita realizar llamadas al clicar sobre un numero en </a:t>
            </a:r>
            <a:r>
              <a:rPr lang="es-ES">
                <a:latin typeface="selawik semibold"/>
                <a:ea typeface="Source Sans Pro"/>
                <a:cs typeface="Segoe UI"/>
              </a:rPr>
              <a:t>dispositivos compatibles.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9A08A43-BBDB-2BEC-4135-C1A044094901}"/>
              </a:ext>
            </a:extLst>
          </p:cNvPr>
          <p:cNvSpPr txBox="1"/>
          <p:nvPr/>
        </p:nvSpPr>
        <p:spPr>
          <a:xfrm>
            <a:off x="3491" y="2500286"/>
            <a:ext cx="466850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b="1" dirty="0">
                <a:ea typeface="Source Sans Pro"/>
              </a:rPr>
              <a:t>Hipervínculo de texto:</a:t>
            </a:r>
            <a:r>
              <a:rPr lang="es-ES" dirty="0">
                <a:ea typeface="Source Sans Pro"/>
              </a:rPr>
              <a:t> Relacionado directamente con un fragmento textual que indica la </a:t>
            </a:r>
            <a:r>
              <a:rPr lang="es-ES" dirty="0" err="1">
                <a:ea typeface="Source Sans Pro"/>
              </a:rPr>
              <a:t>accion</a:t>
            </a:r>
            <a:r>
              <a:rPr lang="es-ES" dirty="0">
                <a:ea typeface="Source Sans Pro"/>
              </a:rPr>
              <a:t> que se va a realizar</a:t>
            </a:r>
            <a:endParaRPr lang="es-ES" dirty="0"/>
          </a:p>
          <a:p>
            <a:endParaRPr lang="es-ES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Source Sans Pro"/>
              </a:rPr>
              <a:t>Hipervínculo de imagen:</a:t>
            </a:r>
            <a:r>
              <a:rPr lang="es-ES" dirty="0">
                <a:ea typeface="Source Sans Pro"/>
              </a:rPr>
              <a:t> Consiste en una imagen que </a:t>
            </a:r>
            <a:r>
              <a:rPr lang="es-ES" dirty="0" err="1">
                <a:ea typeface="Source Sans Pro"/>
              </a:rPr>
              <a:t>actua</a:t>
            </a:r>
            <a:r>
              <a:rPr lang="es-ES" dirty="0">
                <a:ea typeface="Source Sans Pro"/>
              </a:rPr>
              <a:t> como enlace, llevando al usuario a otro recurso al hacer clic.</a:t>
            </a:r>
          </a:p>
          <a:p>
            <a:endParaRPr lang="es-ES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Source Sans Pro"/>
              </a:rPr>
              <a:t>Hipervínculo interno:</a:t>
            </a:r>
            <a:r>
              <a:rPr lang="es-ES" dirty="0">
                <a:ea typeface="Source Sans Pro"/>
              </a:rPr>
              <a:t> Permite la </a:t>
            </a:r>
            <a:r>
              <a:rPr lang="es-ES" dirty="0" err="1">
                <a:ea typeface="Source Sans Pro"/>
              </a:rPr>
              <a:t>navegacion</a:t>
            </a:r>
            <a:r>
              <a:rPr lang="es-ES" dirty="0">
                <a:ea typeface="Source Sans Pro"/>
              </a:rPr>
              <a:t> dentro de un mismo documento, dirigiendo a distintas secciones </a:t>
            </a:r>
          </a:p>
          <a:p>
            <a:endParaRPr lang="es-ES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23836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952" y="365125"/>
            <a:ext cx="5506418" cy="1347974"/>
          </a:xfrm>
        </p:spPr>
        <p:txBody>
          <a:bodyPr rtlCol="0"/>
          <a:lstStyle/>
          <a:p>
            <a:pPr algn="ctr"/>
            <a:r>
              <a:rPr lang="es-ES"/>
              <a:t>COMPONENTES                        BASICOS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8881" y="2344497"/>
            <a:ext cx="5120640" cy="32004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/>
              <a:t>Anclaje de origen:</a:t>
            </a:r>
            <a:endParaRPr lang="es-ES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43DDEB93-8628-4CD2-969D-1108E86844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8317" y="2662765"/>
            <a:ext cx="5120640" cy="7617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Source Sans Pro"/>
              </a:rPr>
              <a:t>Es el punto desde donde se inicia el enlace. </a:t>
            </a:r>
            <a:r>
              <a:rPr lang="es-ES" dirty="0" err="1">
                <a:ea typeface="Source Sans Pro"/>
              </a:rPr>
              <a:t>Esta</a:t>
            </a:r>
            <a:r>
              <a:rPr lang="es-ES" dirty="0">
                <a:ea typeface="Source Sans Pro"/>
              </a:rPr>
              <a:t> representado generalmente por el texto o la imagen que se puede clicar.</a:t>
            </a:r>
          </a:p>
          <a:p>
            <a:pPr rtl="0"/>
            <a:endParaRPr lang="es-ES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1148019F-B471-48D3-A6AA-3F0B467240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68129" y="3426160"/>
            <a:ext cx="5120640" cy="320040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s-ES"/>
              <a:t>Destinos:</a:t>
            </a:r>
            <a:endParaRPr lang="es-ES" dirty="0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B300A6A-6AD6-4D6C-85C5-FDF36EF1D3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57565" y="3747181"/>
            <a:ext cx="5151955" cy="7912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>
                <a:ea typeface="Source Sans Pro"/>
              </a:rPr>
              <a:t>Este es un recurso al que el hipervínculo remite, que puede ser una </a:t>
            </a:r>
            <a:r>
              <a:rPr lang="es-ES">
                <a:ea typeface="Source Sans Pro"/>
              </a:rPr>
              <a:t>página</a:t>
            </a:r>
            <a:r>
              <a:rPr lang="es-ES" dirty="0">
                <a:ea typeface="Source Sans Pro"/>
              </a:rPr>
              <a:t> externa, una sección del mismo documento o un archivo asociado.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C03AC016-5A46-4B6E-943F-B9F4648629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32674" y="4760688"/>
            <a:ext cx="5120640" cy="3200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TEXTO VISIBLE:</a:t>
            </a:r>
            <a:endParaRPr lang="es-ES" dirty="0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0A43BEE-B04F-469B-9957-9AF5947E5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8250" y="5088920"/>
            <a:ext cx="5131079" cy="12141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>
                <a:ea typeface="Source Sans Pro"/>
              </a:rPr>
              <a:t>Se trata de la descripción que aparece en el hipervínculo, proporcionando contexto sobre lo que se encontrara al hacer clic en </a:t>
            </a:r>
            <a:r>
              <a:rPr lang="es-ES">
                <a:ea typeface="Source Sans Pro"/>
              </a:rPr>
              <a:t>él</a:t>
            </a:r>
            <a:r>
              <a:rPr lang="es-ES" dirty="0">
                <a:ea typeface="Source Sans Pro"/>
              </a:rPr>
              <a:t>. Este texto es fundamental para la comprensión del contenido enlazado.</a:t>
            </a: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BD1651FB-5427-4C2E-968C-077A5FCB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9D594A-D7D0-77B4-FC0C-178117557501}"/>
              </a:ext>
            </a:extLst>
          </p:cNvPr>
          <p:cNvSpPr txBox="1"/>
          <p:nvPr/>
        </p:nvSpPr>
        <p:spPr>
          <a:xfrm>
            <a:off x="6098022" y="1859058"/>
            <a:ext cx="58412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ea typeface="Source Sans Pro"/>
              </a:rPr>
              <a:t>Un </a:t>
            </a:r>
            <a:r>
              <a:rPr lang="es-ES">
                <a:ea typeface="Source Sans Pro"/>
              </a:rPr>
              <a:t>hipervínculo</a:t>
            </a:r>
            <a:r>
              <a:rPr lang="es-ES" dirty="0">
                <a:ea typeface="Source Sans Pro"/>
              </a:rPr>
              <a:t> se compone de 3 elementos </a:t>
            </a:r>
            <a:r>
              <a:rPr lang="es-ES">
                <a:ea typeface="Source Sans Pro"/>
              </a:rPr>
              <a:t>fundamentales:</a:t>
            </a:r>
            <a:endParaRPr lang="es-ES" dirty="0">
              <a:ea typeface="Source Sans Pro"/>
            </a:endParaRP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A424D271-E485-36CE-7060-F207F207F4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8" name="Imagen 17" descr="ejemplo de hipervínculo">
            <a:extLst>
              <a:ext uri="{FF2B5EF4-FFF2-40B4-BE49-F238E27FC236}">
                <a16:creationId xmlns:a16="http://schemas.microsoft.com/office/drawing/2014/main" id="{8DAC1386-6B41-EA62-04CD-C7B172CB3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53130" y="1221288"/>
            <a:ext cx="5788068" cy="442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91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rcador de posición de imagen 14" descr="imagen de un primer plano de monedas">
            <a:extLst>
              <a:ext uri="{FF2B5EF4-FFF2-40B4-BE49-F238E27FC236}">
                <a16:creationId xmlns:a16="http://schemas.microsoft.com/office/drawing/2014/main" id="{B91E178C-484E-43C6-93B4-4DF1D16460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0"/>
            <a:ext cx="12188825" cy="68580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r>
              <a:rPr lang="es-ES"/>
              <a:t>Diferencias entre: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444752" y="2487165"/>
            <a:ext cx="2926080" cy="2714379"/>
          </a:xfrm>
        </p:spPr>
        <p:txBody>
          <a:bodyPr vert="horz" lIns="91440" tIns="429768" rIns="91440" bIns="45720" rtlCol="0" anchor="t">
            <a:noAutofit/>
          </a:bodyPr>
          <a:lstStyle/>
          <a:p>
            <a:pPr rtl="0"/>
            <a:r>
              <a:rPr lang="es-ES" sz="2000"/>
              <a:t>hipervínculo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73352" y="3553428"/>
            <a:ext cx="2524909" cy="11949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1600" noProof="1">
                <a:ea typeface="Source Sans Pro"/>
              </a:rPr>
              <a:t>Un hipervínculo suele referirse al enlace que se utiliza en entornos web.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36008" y="2487165"/>
            <a:ext cx="2926080" cy="2715768"/>
          </a:xfrm>
        </p:spPr>
        <p:txBody>
          <a:bodyPr vert="horz" lIns="91440" tIns="429768" rIns="91440" bIns="45720" rtlCol="0" anchor="t">
            <a:normAutofit/>
          </a:bodyPr>
          <a:lstStyle/>
          <a:p>
            <a:pPr rtl="0"/>
            <a:r>
              <a:rPr lang="es-ES" sz="2000" dirty="0"/>
              <a:t>hiperen</a:t>
            </a:r>
            <a:r>
              <a:rPr lang="es-ES" sz="2000"/>
              <a:t>lace</a:t>
            </a:r>
            <a:endParaRPr lang="es-ES" sz="2000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73775" y="3542223"/>
            <a:ext cx="2468880" cy="14190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1600" noProof="1">
                <a:ea typeface="Source Sans Pro"/>
              </a:rPr>
              <a:t>Un hiperenlace puede abarcar enlaces en documentos diversos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90688" y="2487165"/>
            <a:ext cx="2926080" cy="2715768"/>
          </a:xfrm>
        </p:spPr>
        <p:txBody>
          <a:bodyPr vert="horz" lIns="91440" tIns="429768" rIns="91440" bIns="45720" rtlCol="0" anchor="t">
            <a:normAutofit/>
          </a:bodyPr>
          <a:lstStyle/>
          <a:p>
            <a:pPr rtl="0"/>
            <a:r>
              <a:rPr lang="es-ES" sz="2000"/>
              <a:t>vinculo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019288" y="3374136"/>
            <a:ext cx="2468880" cy="1371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1600" noProof="1">
                <a:ea typeface="Source Sans Pro"/>
              </a:rPr>
              <a:t>El termino vinculo es más general y no siempre implica una dirección especifica.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7597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E00243C5-63A8-41FD-AC5F-B82F3BE2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A26E79-BB71-489A-B65B-6FB9A794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8" name="Marcador de posición de imagen 7" descr="hipervinculo">
            <a:extLst>
              <a:ext uri="{FF2B5EF4-FFF2-40B4-BE49-F238E27FC236}">
                <a16:creationId xmlns:a16="http://schemas.microsoft.com/office/drawing/2014/main" id="{1A1FFB59-6D0F-F64D-432B-C6F7E2D1B2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395" r="6395"/>
          <a:stretch/>
        </p:blipFill>
        <p:spPr>
          <a:xfrm>
            <a:off x="232274" y="1957"/>
            <a:ext cx="11954526" cy="6854083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4D9D9">
              <a:lumMod val="20000"/>
              <a:lumOff val="80000"/>
            </a:srgbClr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17" y="136116"/>
            <a:ext cx="11359018" cy="1325563"/>
          </a:xfrm>
        </p:spPr>
        <p:txBody>
          <a:bodyPr rtlCol="0"/>
          <a:lstStyle/>
          <a:p>
            <a:r>
              <a:rPr lang="es-ES" dirty="0">
                <a:solidFill>
                  <a:schemeClr val="bg1"/>
                </a:solidFill>
              </a:rPr>
              <a:t>Hipervínculos en el Desarrollo de </a:t>
            </a:r>
            <a:r>
              <a:rPr lang="es-ES">
                <a:solidFill>
                  <a:schemeClr val="bg1"/>
                </a:solidFill>
              </a:rPr>
              <a:t>Código</a:t>
            </a:r>
            <a:r>
              <a:rPr lang="es-ES" dirty="0">
                <a:solidFill>
                  <a:schemeClr val="bg1"/>
                </a:solidFill>
              </a:rPr>
              <a:t> HTML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08" y="1186100"/>
            <a:ext cx="11398160" cy="10612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solidFill>
                  <a:schemeClr val="bg1"/>
                </a:solidFill>
                <a:ea typeface="Source Sans Pro"/>
              </a:rPr>
              <a:t>Esta </a:t>
            </a:r>
            <a:r>
              <a:rPr lang="es-ES" dirty="0" err="1">
                <a:solidFill>
                  <a:schemeClr val="bg1"/>
                </a:solidFill>
                <a:ea typeface="Source Sans Pro"/>
              </a:rPr>
              <a:t>seccion</a:t>
            </a:r>
            <a:r>
              <a:rPr lang="es-ES" dirty="0">
                <a:solidFill>
                  <a:schemeClr val="bg1"/>
                </a:solidFill>
                <a:ea typeface="Source Sans Pro"/>
              </a:rPr>
              <a:t> se centra en la sintaxis necesaria para crear enlaces y en los atributos que permiten mejorar su accesi</a:t>
            </a:r>
            <a:r>
              <a:rPr lang="es-ES" dirty="0">
                <a:solidFill>
                  <a:schemeClr val="bg1"/>
                </a:solidFill>
              </a:rPr>
              <a:t>bilidad y utilidad.</a:t>
            </a:r>
            <a:endParaRPr lang="es-ES" dirty="0">
              <a:solidFill>
                <a:schemeClr val="bg1"/>
              </a:solidFill>
              <a:ea typeface="Source Sans Pro"/>
            </a:endParaRPr>
          </a:p>
          <a:p>
            <a:pPr rtl="0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2D9C3B-8D4B-DFCA-1F73-296DBD684489}"/>
              </a:ext>
            </a:extLst>
          </p:cNvPr>
          <p:cNvSpPr txBox="1"/>
          <p:nvPr/>
        </p:nvSpPr>
        <p:spPr>
          <a:xfrm>
            <a:off x="233134" y="2026318"/>
            <a:ext cx="1196002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sz="2400" b="1" dirty="0">
                <a:solidFill>
                  <a:schemeClr val="bg1"/>
                </a:solidFill>
                <a:ea typeface="Source Sans Pro"/>
              </a:rPr>
              <a:t>Sintaxis para </a:t>
            </a:r>
            <a:r>
              <a:rPr lang="es-ES" sz="2400" b="1">
                <a:solidFill>
                  <a:schemeClr val="bg1"/>
                </a:solidFill>
                <a:ea typeface="Source Sans Pro"/>
              </a:rPr>
              <a:t>hipervínculos - HTML:</a:t>
            </a:r>
            <a:endParaRPr lang="es-ES" sz="2400" b="1" dirty="0">
              <a:solidFill>
                <a:schemeClr val="bg1"/>
              </a:solidFill>
              <a:ea typeface="Source Sans Pro"/>
            </a:endParaRPr>
          </a:p>
          <a:p>
            <a:r>
              <a:rPr lang="es-ES" sz="2000" dirty="0">
                <a:solidFill>
                  <a:schemeClr val="bg1"/>
                </a:solidFill>
                <a:ea typeface="Source Sans Pro"/>
              </a:rPr>
              <a:t>Cuando se trata de HTML, la creación de un hipervínculo se realiza mediante una etiqueta especifica. Esta etiqueta permite enlazar a diferentes recursos, facilitando la navegación entre contenido </a:t>
            </a:r>
            <a:r>
              <a:rPr lang="es-ES" sz="2000">
                <a:solidFill>
                  <a:schemeClr val="bg1"/>
                </a:solidFill>
                <a:ea typeface="Source Sans Pro"/>
              </a:rPr>
              <a:t>digital.</a:t>
            </a:r>
            <a:endParaRPr lang="es-ES" sz="2000" dirty="0">
              <a:solidFill>
                <a:schemeClr val="bg1"/>
              </a:solidFill>
              <a:ea typeface="Source Sans Pro"/>
            </a:endParaRPr>
          </a:p>
          <a:p>
            <a:endParaRPr lang="es-ES" sz="2000" dirty="0">
              <a:solidFill>
                <a:schemeClr val="bg1"/>
              </a:solidFill>
              <a:ea typeface="Source Sans Pro"/>
            </a:endParaRPr>
          </a:p>
          <a:p>
            <a:r>
              <a:rPr lang="es-ES" sz="2000" dirty="0">
                <a:solidFill>
                  <a:schemeClr val="bg1"/>
                </a:solidFill>
                <a:ea typeface="Source Sans Pro"/>
              </a:rPr>
              <a:t>La estructura </a:t>
            </a:r>
            <a:r>
              <a:rPr lang="es-ES" sz="2000">
                <a:solidFill>
                  <a:schemeClr val="bg1"/>
                </a:solidFill>
                <a:ea typeface="Source Sans Pro"/>
              </a:rPr>
              <a:t>básica para crear un hipervínculo es la etiqueta 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s-ES" sz="2000">
                <a:solidFill>
                  <a:schemeClr val="bg1"/>
                </a:solidFill>
                <a:ea typeface="+mn-lt"/>
                <a:cs typeface="+mn-lt"/>
              </a:rPr>
              <a:t>&lt;a&gt; que representa un ancla.</a:t>
            </a:r>
            <a:endParaRPr lang="es-E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                                                            </a:t>
            </a:r>
            <a:r>
              <a:rPr lang="es-ES" sz="2000">
                <a:solidFill>
                  <a:schemeClr val="bg1"/>
                </a:solidFill>
                <a:ea typeface="+mn-lt"/>
                <a:cs typeface="+mn-lt"/>
              </a:rPr>
              <a:t>&lt;a&gt; | &lt;/a&gt;</a:t>
            </a:r>
            <a:endParaRPr lang="es-ES" sz="20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s-ES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2400" b="1" dirty="0">
                <a:solidFill>
                  <a:schemeClr val="bg1"/>
                </a:solidFill>
                <a:ea typeface="+mn-lt"/>
                <a:cs typeface="+mn-lt"/>
              </a:rPr>
              <a:t>Uso del atributo </a:t>
            </a:r>
            <a:r>
              <a:rPr lang="es-ES" sz="2400" b="1" dirty="0" err="1">
                <a:solidFill>
                  <a:schemeClr val="bg1"/>
                </a:solidFill>
                <a:ea typeface="+mn-lt"/>
                <a:cs typeface="+mn-lt"/>
              </a:rPr>
              <a:t>href</a:t>
            </a:r>
            <a:r>
              <a:rPr lang="es-ES" sz="2400" b="1" dirty="0">
                <a:solidFill>
                  <a:schemeClr val="bg1"/>
                </a:solidFill>
                <a:ea typeface="+mn-lt"/>
                <a:cs typeface="+mn-lt"/>
              </a:rPr>
              <a:t> y texto ancla:</a:t>
            </a:r>
          </a:p>
          <a:p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El atributo más importante es 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href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, que especifica la dirección URL a la que el enlace llevara al usuario.</a:t>
            </a:r>
          </a:p>
          <a:p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Esta URL puede ser interna, apuntando a una </a:t>
            </a:r>
            <a:r>
              <a:rPr lang="es-ES" sz="2000">
                <a:solidFill>
                  <a:schemeClr val="bg1"/>
                </a:solidFill>
                <a:ea typeface="+mn-lt"/>
                <a:cs typeface="+mn-lt"/>
              </a:rPr>
              <a:t>página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 del mismo sitio web, o externa, dirigiendo a una página de </a:t>
            </a:r>
            <a:r>
              <a:rPr lang="es-ES" sz="2000">
                <a:solidFill>
                  <a:schemeClr val="bg1"/>
                </a:solidFill>
                <a:ea typeface="+mn-lt"/>
                <a:cs typeface="+mn-lt"/>
              </a:rPr>
              <a:t>un sitio distinto.</a:t>
            </a:r>
          </a:p>
          <a:p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El texto visible o texto ancla es el que se presenta en la </a:t>
            </a:r>
            <a:r>
              <a:rPr lang="es-ES" sz="2000">
                <a:solidFill>
                  <a:schemeClr val="bg1"/>
                </a:solidFill>
                <a:ea typeface="+mn-lt"/>
                <a:cs typeface="+mn-lt"/>
              </a:rPr>
              <a:t>página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 y que el usuario puede clicar. Este texto debe ser </a:t>
            </a:r>
            <a:r>
              <a:rPr lang="es-ES" sz="2000">
                <a:solidFill>
                  <a:schemeClr val="bg1"/>
                </a:solidFill>
                <a:ea typeface="+mn-lt"/>
                <a:cs typeface="+mn-lt"/>
              </a:rPr>
              <a:t>descriptivo y relevante, ya que facilita la comprensión del contenido al que se dirige.</a:t>
            </a:r>
          </a:p>
          <a:p>
            <a:endParaRPr lang="es-E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                                                            &lt;a&gt;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href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 = &lt;&lt;https://www.ejemplo.com&gt;&gt;&lt;/a&gt;</a:t>
            </a:r>
          </a:p>
        </p:txBody>
      </p:sp>
    </p:spTree>
    <p:extLst>
      <p:ext uri="{BB962C8B-B14F-4D97-AF65-F5344CB8AC3E}">
        <p14:creationId xmlns:p14="http://schemas.microsoft.com/office/powerpoint/2010/main" val="199679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0D92-A7CA-CDB4-FCA7-836DAAD0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3C6EC10-2E43-81F1-76A7-13ED96CD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BDF823-2A10-7BC1-7385-6C5D1710B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8" name="Marcador de posición de imagen 7" descr="hipervinculo">
            <a:extLst>
              <a:ext uri="{FF2B5EF4-FFF2-40B4-BE49-F238E27FC236}">
                <a16:creationId xmlns:a16="http://schemas.microsoft.com/office/drawing/2014/main" id="{596EF23C-1825-B3F8-D115-9D4E1C2793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395" r="6395"/>
          <a:stretch/>
        </p:blipFill>
        <p:spPr>
          <a:xfrm>
            <a:off x="232274" y="1957"/>
            <a:ext cx="11954526" cy="6854083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4D9D9">
              <a:lumMod val="20000"/>
              <a:lumOff val="80000"/>
            </a:srgbClr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B93569-7D67-9911-E907-0505B2E5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17" y="136116"/>
            <a:ext cx="11359018" cy="1325563"/>
          </a:xfrm>
        </p:spPr>
        <p:txBody>
          <a:bodyPr rtlCol="0"/>
          <a:lstStyle/>
          <a:p>
            <a:r>
              <a:rPr lang="es-ES" dirty="0">
                <a:solidFill>
                  <a:schemeClr val="bg1"/>
                </a:solidFill>
              </a:rPr>
              <a:t>Hipervínculos en el Desarrollo de </a:t>
            </a:r>
            <a:r>
              <a:rPr lang="es-ES">
                <a:solidFill>
                  <a:schemeClr val="bg1"/>
                </a:solidFill>
              </a:rPr>
              <a:t>Código</a:t>
            </a:r>
            <a:r>
              <a:rPr lang="es-ES" dirty="0">
                <a:solidFill>
                  <a:schemeClr val="bg1"/>
                </a:solidFill>
              </a:rPr>
              <a:t> HTML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F69A2F-2C27-8026-4014-4F3803AE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08" y="1186100"/>
            <a:ext cx="11398160" cy="10612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solidFill>
                  <a:schemeClr val="bg1"/>
                </a:solidFill>
                <a:ea typeface="Source Sans Pro"/>
              </a:rPr>
              <a:t>Esta </a:t>
            </a:r>
            <a:r>
              <a:rPr lang="es-ES" err="1">
                <a:solidFill>
                  <a:schemeClr val="bg1"/>
                </a:solidFill>
                <a:ea typeface="Source Sans Pro"/>
              </a:rPr>
              <a:t>seccion</a:t>
            </a:r>
            <a:r>
              <a:rPr lang="es-ES" dirty="0">
                <a:solidFill>
                  <a:schemeClr val="bg1"/>
                </a:solidFill>
                <a:ea typeface="Source Sans Pro"/>
              </a:rPr>
              <a:t> se centra en la sintaxis necesaria para crear enlaces y en los atributos que permiten mejorar su accesi</a:t>
            </a:r>
            <a:r>
              <a:rPr lang="es-ES">
                <a:solidFill>
                  <a:schemeClr val="bg1"/>
                </a:solidFill>
              </a:rPr>
              <a:t>bilidad y utilidad.</a:t>
            </a:r>
            <a:endParaRPr lang="es-ES" dirty="0">
              <a:solidFill>
                <a:schemeClr val="bg1"/>
              </a:solidFill>
              <a:ea typeface="Source Sans Pro"/>
            </a:endParaRPr>
          </a:p>
          <a:p>
            <a:pPr rtl="0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AF96DF-E341-AA90-7A5D-141E334E5EB6}"/>
              </a:ext>
            </a:extLst>
          </p:cNvPr>
          <p:cNvSpPr txBox="1"/>
          <p:nvPr/>
        </p:nvSpPr>
        <p:spPr>
          <a:xfrm>
            <a:off x="233134" y="2026318"/>
            <a:ext cx="11960027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sz="2400" b="1" dirty="0">
                <a:solidFill>
                  <a:schemeClr val="bg1"/>
                </a:solidFill>
                <a:ea typeface="+mn-lt"/>
                <a:cs typeface="+mn-lt"/>
              </a:rPr>
              <a:t>Otros atributos importantes: </a:t>
            </a:r>
            <a:r>
              <a:rPr lang="es-ES" sz="2400" b="1" dirty="0" err="1">
                <a:solidFill>
                  <a:schemeClr val="bg1"/>
                </a:solidFill>
                <a:ea typeface="+mn-lt"/>
                <a:cs typeface="+mn-lt"/>
              </a:rPr>
              <a:t>title</a:t>
            </a:r>
            <a:r>
              <a:rPr lang="es-ES" sz="2400" b="1" dirty="0">
                <a:solidFill>
                  <a:schemeClr val="bg1"/>
                </a:solidFill>
                <a:ea typeface="+mn-lt"/>
                <a:cs typeface="+mn-lt"/>
              </a:rPr>
              <a:t> y target</a:t>
            </a:r>
          </a:p>
          <a:p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Existen atributos adicionales que mejoran la funcionalidad de los hipervínculos. Por ejemplo, el atributo </a:t>
            </a:r>
            <a:r>
              <a:rPr lang="es-ES" i="1" dirty="0" err="1">
                <a:solidFill>
                  <a:schemeClr val="bg1"/>
                </a:solidFill>
                <a:ea typeface="+mn-lt"/>
                <a:cs typeface="+mn-lt"/>
              </a:rPr>
              <a:t>title</a:t>
            </a:r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 proporciona información suplementaria al usuario al pasar el curso sobre el enlace, ofreciendo un contexto adicional.</a:t>
            </a:r>
          </a:p>
          <a:p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El atributo </a:t>
            </a:r>
            <a:r>
              <a:rPr lang="es-ES" i="1" dirty="0">
                <a:solidFill>
                  <a:schemeClr val="bg1"/>
                </a:solidFill>
                <a:ea typeface="+mn-lt"/>
                <a:cs typeface="+mn-lt"/>
              </a:rPr>
              <a:t>target</a:t>
            </a:r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 permite especificar como se </a:t>
            </a:r>
            <a:r>
              <a:rPr lang="es-ES">
                <a:solidFill>
                  <a:schemeClr val="bg1"/>
                </a:solidFill>
                <a:ea typeface="+mn-lt"/>
                <a:cs typeface="+mn-lt"/>
              </a:rPr>
              <a:t>abrirá</a:t>
            </a:r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 el enlace en la misma ventana o en una nueva pestaña, lo que puede ser útil para mantener la página original accesible.</a:t>
            </a:r>
          </a:p>
          <a:p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2400" b="1" dirty="0">
                <a:solidFill>
                  <a:schemeClr val="bg1"/>
                </a:solidFill>
                <a:ea typeface="+mn-lt"/>
                <a:cs typeface="+mn-lt"/>
              </a:rPr>
              <a:t>Consideraciones para el desarrollo web y accesibili</a:t>
            </a:r>
            <a:r>
              <a:rPr lang="es-ES" sz="2400" b="1">
                <a:solidFill>
                  <a:schemeClr val="bg1"/>
                </a:solidFill>
                <a:ea typeface="+mn-lt"/>
                <a:cs typeface="+mn-lt"/>
              </a:rPr>
              <a:t>dad:</a:t>
            </a:r>
          </a:p>
          <a:p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s-ES">
                <a:solidFill>
                  <a:schemeClr val="bg1"/>
                </a:solidFill>
                <a:ea typeface="+mn-lt"/>
                <a:cs typeface="+mn-lt"/>
              </a:rPr>
              <a:t>La accesibilidad es un aspecto fundamental al implementar hipervínculos en páginas web. Asegurarse</a:t>
            </a:r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 de que el texto de los enlaces sea claro y conciso es esencial para usuarios que requieren tecnologías asistidas.</a:t>
            </a:r>
          </a:p>
          <a:p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Es recomendable no hacer uso excesivo de enlaces en un mismo texto. Por </a:t>
            </a:r>
            <a:r>
              <a:rPr lang="es-ES">
                <a:solidFill>
                  <a:schemeClr val="bg1"/>
                </a:solidFill>
                <a:ea typeface="+mn-lt"/>
                <a:cs typeface="+mn-lt"/>
              </a:rPr>
              <a:t>último</a:t>
            </a:r>
            <a:r>
              <a:rPr lang="es-ES" dirty="0">
                <a:solidFill>
                  <a:schemeClr val="bg1"/>
                </a:solidFill>
                <a:ea typeface="+mn-lt"/>
                <a:cs typeface="+mn-lt"/>
              </a:rPr>
              <a:t>, es necesario realizar comprobaciones regulares para mantener los enlaces actualizados y en funcionamiento, evitando enlaces rotos que puedan frustrar la experiencia del usuario.</a:t>
            </a:r>
          </a:p>
        </p:txBody>
      </p:sp>
    </p:spTree>
    <p:extLst>
      <p:ext uri="{BB962C8B-B14F-4D97-AF65-F5344CB8AC3E}">
        <p14:creationId xmlns:p14="http://schemas.microsoft.com/office/powerpoint/2010/main" val="1811809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 descr="imagen de un gráfico de barras">
            <a:extLst>
              <a:ext uri="{FF2B5EF4-FFF2-40B4-BE49-F238E27FC236}">
                <a16:creationId xmlns:a16="http://schemas.microsoft.com/office/drawing/2014/main" id="{6A057D43-F8BF-4DAD-A7AD-845A6D5B5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544" y="-139140"/>
            <a:ext cx="9754497" cy="1325563"/>
          </a:xfrm>
        </p:spPr>
        <p:txBody>
          <a:bodyPr rtlCol="0"/>
          <a:lstStyle/>
          <a:p>
            <a:r>
              <a:rPr lang="es-ES"/>
              <a:t>Hipervínculos</a:t>
            </a:r>
            <a:r>
              <a:rPr lang="es-ES" dirty="0"/>
              <a:t> y sus aplicaciones practicas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</p:spPr>
        <p:txBody>
          <a:bodyPr rtlCol="0"/>
          <a:lstStyle/>
          <a:p>
            <a:pPr algn="ctr"/>
            <a:r>
              <a:rPr lang="es-ES" sz="2800" dirty="0"/>
              <a:t>Dirección a correo </a:t>
            </a:r>
            <a:r>
              <a:rPr lang="es-ES" sz="2800"/>
              <a:t>electrónico</a:t>
            </a:r>
            <a:endParaRPr lang="es-ES" sz="2800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4671EBE-B721-4278-A276-75F44D55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5874" y="2550351"/>
            <a:ext cx="4212366" cy="30250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1800" noProof="1">
                <a:latin typeface="Book Antiqua"/>
                <a:ea typeface="Source Sans Pro"/>
              </a:rPr>
              <a:t>Proporcionan una forma practica y efectiva de facilitar llamadas desde dispositivos que lo permitan.</a:t>
            </a:r>
          </a:p>
          <a:p>
            <a:endParaRPr lang="es-ES" sz="1800" noProof="1">
              <a:latin typeface="Book Antiqua"/>
              <a:ea typeface="Source Sans Pro"/>
            </a:endParaRPr>
          </a:p>
          <a:p>
            <a:r>
              <a:rPr lang="es-ES" sz="1800" noProof="1">
                <a:latin typeface="Book Antiqua"/>
                <a:ea typeface="Source Sans Pro"/>
              </a:rPr>
              <a:t>Utilizando el formato de hipervinculo correspondiente, los usuarios pueden clicar en el numero y, si estan en un dispositivo movil, el enlace iniciara una llama automática.</a:t>
            </a:r>
          </a:p>
          <a:p>
            <a:endParaRPr lang="es-ES" sz="1800" noProof="1">
              <a:ea typeface="Source Sans Pro"/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29525" y="1919288"/>
            <a:ext cx="3657600" cy="640080"/>
          </a:xfrm>
        </p:spPr>
        <p:txBody>
          <a:bodyPr rtlCol="0">
            <a:normAutofit/>
          </a:bodyPr>
          <a:lstStyle/>
          <a:p>
            <a:pPr rtl="0"/>
            <a:r>
              <a:rPr lang="es-ES" sz="2800" b="1"/>
              <a:t>Ejemplo:</a:t>
            </a:r>
            <a:endParaRPr lang="es-ES" sz="2800" b="1" dirty="0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972E633-D3D4-4B6D-909F-937FED844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46923" y="2686050"/>
            <a:ext cx="4847878" cy="274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000" noProof="1">
                <a:ea typeface="Source Sans Pro"/>
              </a:rPr>
              <a:t>Este hipervínculo busca mejorar la experiencia del usuario al simplificar la conexión con servicios de atención al cliente o contactos importantes.</a:t>
            </a:r>
          </a:p>
          <a:p>
            <a:endParaRPr lang="es-ES" sz="2000" noProof="1">
              <a:ea typeface="Source Sans Pro"/>
            </a:endParaRPr>
          </a:p>
          <a:p>
            <a:r>
              <a:rPr lang="es-ES" sz="2000" noProof="1">
                <a:ea typeface="+mn-lt"/>
                <a:cs typeface="+mn-lt"/>
                <a:hlinkClick r:id="rId4"/>
              </a:rPr>
              <a:t>&lt;ahref=tel:+34915913635"title=Llamar al departamento de recursos humanos</a:t>
            </a:r>
            <a:r>
              <a:rPr lang="es-ES" sz="2000" noProof="1">
                <a:ea typeface="+mn-lt"/>
                <a:cs typeface="+mn-lt"/>
              </a:rPr>
              <a:t>&gt;Llamar al 91 591 36 35</a:t>
            </a:r>
            <a:r>
              <a:rPr lang="es-ES" sz="2000" noProof="1">
                <a:ea typeface="+mn-lt"/>
                <a:cs typeface="+mn-lt"/>
                <a:hlinkClick r:id="rId4"/>
              </a:rPr>
              <a:t>&lt;/</a:t>
            </a:r>
            <a:r>
              <a:rPr lang="es-ES" sz="2000" noProof="1">
                <a:ea typeface="+mn-lt"/>
                <a:cs typeface="+mn-lt"/>
                <a:hlinkClick r:id="rId5"/>
              </a:rPr>
              <a:t>a</a:t>
            </a:r>
            <a:r>
              <a:rPr lang="es-ES" sz="2000" noProof="1">
                <a:ea typeface="+mn-lt"/>
                <a:cs typeface="+mn-lt"/>
              </a:rPr>
              <a:t>&gt;</a:t>
            </a:r>
            <a:endParaRPr lang="es-ES" sz="2400" noProof="1">
              <a:ea typeface="+mn-lt"/>
              <a:cs typeface="+mn-lt"/>
            </a:endParaRPr>
          </a:p>
          <a:p>
            <a:endParaRPr lang="es-ES" sz="2000" noProof="1">
              <a:ea typeface="+mn-lt"/>
              <a:cs typeface="+mn-lt"/>
            </a:endParaRPr>
          </a:p>
          <a:p>
            <a:endParaRPr lang="es-ES" sz="2000" noProof="1">
              <a:ea typeface="+mn-lt"/>
              <a:cs typeface="+mn-lt"/>
            </a:endParaRPr>
          </a:p>
        </p:txBody>
      </p:sp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4D55AB81-8A4D-4B4A-8B0F-A7407C69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9B04A6B-B6E9-40E3-BFCB-8C1C17E0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8293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0EA8-509E-7A7B-C75F-C0EF4B74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 descr="imagen de un gráfico de barras">
            <a:extLst>
              <a:ext uri="{FF2B5EF4-FFF2-40B4-BE49-F238E27FC236}">
                <a16:creationId xmlns:a16="http://schemas.microsoft.com/office/drawing/2014/main" id="{75DE09B4-B1B2-762C-D42C-2B94CD8BA46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37BAFBC-3514-E760-288C-48F4169D8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544" y="-139140"/>
            <a:ext cx="9754497" cy="1325563"/>
          </a:xfrm>
        </p:spPr>
        <p:txBody>
          <a:bodyPr rtlCol="0"/>
          <a:lstStyle/>
          <a:p>
            <a:r>
              <a:rPr lang="es-ES"/>
              <a:t>Hipervínculos</a:t>
            </a:r>
            <a:r>
              <a:rPr lang="es-ES" dirty="0"/>
              <a:t> y sus aplicaciones practicas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497F2C-254C-4B71-8E71-107DDB050DA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</p:spPr>
        <p:txBody>
          <a:bodyPr rtlCol="0"/>
          <a:lstStyle/>
          <a:p>
            <a:pPr algn="ctr"/>
            <a:r>
              <a:rPr lang="es-ES" sz="2800" dirty="0"/>
              <a:t>Enlaces </a:t>
            </a:r>
            <a:r>
              <a:rPr lang="es-ES" sz="2800" dirty="0" err="1"/>
              <a:t>telefonicos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FE662BAC-367B-6CCD-D9D2-B47110AED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5874" y="2550351"/>
            <a:ext cx="4212366" cy="30250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noProof="1">
                <a:ea typeface="Source Sans Pro"/>
              </a:rPr>
              <a:t>Este tipo de enlace permite a los usuarios enviar un mensaje sin tener que copiar y pegar la dirección de email.</a:t>
            </a:r>
          </a:p>
          <a:p>
            <a:pPr marL="285750" indent="-285750">
              <a:buChar char="•"/>
            </a:pPr>
            <a:r>
              <a:rPr lang="es-ES" sz="2000" b="1" noProof="1">
                <a:ea typeface="Source Sans Pro"/>
              </a:rPr>
              <a:t>Generalmente incluye:</a:t>
            </a:r>
          </a:p>
          <a:p>
            <a:r>
              <a:rPr lang="es-ES" sz="1800" noProof="1">
                <a:ea typeface="Source Sans Pro"/>
              </a:rPr>
              <a:t>-mailto: Seguida de la dirección de email.</a:t>
            </a:r>
          </a:p>
          <a:p>
            <a:endParaRPr lang="es-ES" sz="1800" noProof="1">
              <a:ea typeface="Source Sans Pro"/>
            </a:endParaRPr>
          </a:p>
          <a:p>
            <a:r>
              <a:rPr lang="es-ES" sz="1800" noProof="1">
                <a:ea typeface="Source Sans Pro"/>
              </a:rPr>
              <a:t>-?subject: Especificando el asunto del email.</a:t>
            </a:r>
          </a:p>
          <a:p>
            <a:endParaRPr lang="es-ES" sz="1800" noProof="1">
              <a:ea typeface="Source Sans Pro"/>
            </a:endParaRPr>
          </a:p>
          <a:p>
            <a:r>
              <a:rPr lang="es-ES" sz="1800" noProof="1">
                <a:ea typeface="Source Sans Pro"/>
              </a:rPr>
              <a:t>-title: Mensaje informativo al pasar ael cursor.</a:t>
            </a:r>
          </a:p>
          <a:p>
            <a:endParaRPr lang="es-ES" sz="1800" noProof="1">
              <a:ea typeface="Source Sans Pro"/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68A5A90-2B65-F6AA-77F0-1E7A0CFB9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29525" y="1919288"/>
            <a:ext cx="3657600" cy="640080"/>
          </a:xfrm>
        </p:spPr>
        <p:txBody>
          <a:bodyPr rtlCol="0">
            <a:normAutofit/>
          </a:bodyPr>
          <a:lstStyle/>
          <a:p>
            <a:pPr rtl="0"/>
            <a:r>
              <a:rPr lang="es-ES" sz="2800" b="1"/>
              <a:t>Ejemplo:</a:t>
            </a:r>
            <a:endParaRPr lang="es-ES" sz="2800" b="1" dirty="0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589B1B9-BD6D-6FBF-BBDB-FDF4391FF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46923" y="2686050"/>
            <a:ext cx="4847878" cy="274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000" noProof="1">
                <a:ea typeface="Source Sans Pro"/>
              </a:rPr>
              <a:t>Al clicar en un enlace de este tipo, se abrirá automáticamente el programa gestor de correos del usuario, facilitando así la redacción de un nuevo mensaje, como asunto predefinido.</a:t>
            </a:r>
          </a:p>
          <a:p>
            <a:endParaRPr lang="es-ES" sz="2000" noProof="1">
              <a:ea typeface="Source Sans Pro"/>
            </a:endParaRPr>
          </a:p>
          <a:p>
            <a:r>
              <a:rPr lang="es-ES" sz="2000" noProof="1">
                <a:ea typeface="+mn-lt"/>
                <a:cs typeface="+mn-lt"/>
                <a:hlinkClick r:id="rId4"/>
              </a:rPr>
              <a:t>&lt;ahref="malillto:contacto@ejemplo.com?subject=Consulta%20de%20informacion"=title="Enviar</a:t>
            </a:r>
            <a:r>
              <a:rPr lang="es-ES" sz="2000" noProof="1">
                <a:ea typeface="+mn-lt"/>
                <a:cs typeface="+mn-lt"/>
              </a:rPr>
              <a:t> un correo con asunto predefinido"&gt;Contactar por email</a:t>
            </a:r>
            <a:r>
              <a:rPr lang="es-ES" sz="2000" noProof="1">
                <a:ea typeface="+mn-lt"/>
                <a:cs typeface="+mn-lt"/>
                <a:hlinkClick r:id="rId5"/>
              </a:rPr>
              <a:t>&lt;/a</a:t>
            </a:r>
            <a:r>
              <a:rPr lang="es-ES" sz="2000" noProof="1">
                <a:ea typeface="+mn-lt"/>
                <a:cs typeface="+mn-lt"/>
              </a:rPr>
              <a:t>&gt;</a:t>
            </a:r>
            <a:endParaRPr lang="es-ES" sz="2400" noProof="1">
              <a:ea typeface="+mn-lt"/>
              <a:cs typeface="+mn-lt"/>
            </a:endParaRPr>
          </a:p>
          <a:p>
            <a:endParaRPr lang="es-ES" sz="2000" noProof="1">
              <a:ea typeface="+mn-lt"/>
              <a:cs typeface="+mn-lt"/>
            </a:endParaRPr>
          </a:p>
          <a:p>
            <a:endParaRPr lang="es-ES" sz="2000" noProof="1">
              <a:ea typeface="+mn-lt"/>
              <a:cs typeface="+mn-lt"/>
            </a:endParaRPr>
          </a:p>
        </p:txBody>
      </p:sp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F52DC3FD-1004-EAF0-0269-BBA3CEAD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84040CA-4DEA-77B9-8DFA-C1B3FB743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5860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Marcador de posición de imagen 51" descr="fotografía de la columna de un edificio&#10;">
            <a:extLst>
              <a:ext uri="{FF2B5EF4-FFF2-40B4-BE49-F238E27FC236}">
                <a16:creationId xmlns:a16="http://schemas.microsoft.com/office/drawing/2014/main" id="{FB984F8E-E35E-4C11-86D8-AC8E1328E9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" b="58"/>
          <a:stretch/>
        </p:blipFill>
        <p:spPr>
          <a:xfrm>
            <a:off x="458724" y="481369"/>
            <a:ext cx="11274552" cy="2743200"/>
          </a:xfrm>
        </p:spPr>
      </p:pic>
      <p:sp>
        <p:nvSpPr>
          <p:cNvPr id="34" name="Título 33">
            <a:extLst>
              <a:ext uri="{FF2B5EF4-FFF2-40B4-BE49-F238E27FC236}">
                <a16:creationId xmlns:a16="http://schemas.microsoft.com/office/drawing/2014/main" id="{17B7CBFC-65A2-4AB4-BE48-C580D13C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592386"/>
            <a:ext cx="4572000" cy="1325563"/>
          </a:xfrm>
        </p:spPr>
        <p:txBody>
          <a:bodyPr rtlCol="0"/>
          <a:lstStyle/>
          <a:p>
            <a:pPr rtl="0"/>
            <a:r>
              <a:rPr lang="es-ES" i="1"/>
              <a:t>CONCLUSION</a:t>
            </a:r>
            <a:endParaRPr lang="es-ES" i="1" dirty="0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D2B40CBE-DEC8-4A9F-AF68-3DABE42C7E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9391" y="3546349"/>
            <a:ext cx="5248656" cy="192024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s-ES" sz="1600" dirty="0">
                <a:ea typeface="Source Sans Pro"/>
              </a:rPr>
              <a:t>Los </a:t>
            </a:r>
            <a:r>
              <a:rPr lang="es-ES" sz="1600" dirty="0" err="1">
                <a:ea typeface="Source Sans Pro"/>
              </a:rPr>
              <a:t>hipervinculos</a:t>
            </a:r>
            <a:r>
              <a:rPr lang="es-ES" sz="1600" dirty="0">
                <a:ea typeface="Source Sans Pro"/>
              </a:rPr>
              <a:t> son </a:t>
            </a:r>
            <a:r>
              <a:rPr lang="es-ES" sz="1600" dirty="0" err="1">
                <a:ea typeface="Source Sans Pro"/>
              </a:rPr>
              <a:t>escenciales</a:t>
            </a:r>
            <a:r>
              <a:rPr lang="es-ES" sz="1600" dirty="0">
                <a:ea typeface="Source Sans Pro"/>
              </a:rPr>
              <a:t> para el funcionamiento de la web moderna, ya que permiten una navegación fluida y eficiente entre diferentes recursos. Sin ellos, la experiencia de </a:t>
            </a:r>
            <a:r>
              <a:rPr lang="es-ES" sz="1600" dirty="0" err="1">
                <a:ea typeface="Source Sans Pro"/>
              </a:rPr>
              <a:t>navegacion</a:t>
            </a:r>
            <a:r>
              <a:rPr lang="es-ES" sz="1600" dirty="0">
                <a:ea typeface="Source Sans Pro"/>
              </a:rPr>
              <a:t> </a:t>
            </a:r>
            <a:r>
              <a:rPr lang="es-ES" sz="1600" dirty="0" err="1">
                <a:ea typeface="Source Sans Pro"/>
              </a:rPr>
              <a:t>seria</a:t>
            </a:r>
            <a:r>
              <a:rPr lang="es-ES" sz="1600" dirty="0">
                <a:ea typeface="Source Sans Pro"/>
              </a:rPr>
              <a:t> mucho </a:t>
            </a:r>
            <a:r>
              <a:rPr lang="es-ES" sz="1600" dirty="0" err="1">
                <a:ea typeface="Source Sans Pro"/>
              </a:rPr>
              <a:t>mas</a:t>
            </a:r>
            <a:r>
              <a:rPr lang="es-ES" sz="1600" dirty="0">
                <a:ea typeface="Source Sans Pro"/>
              </a:rPr>
              <a:t> limitada y tediosa. Su correcta </a:t>
            </a:r>
            <a:r>
              <a:rPr lang="es-ES" sz="1600" dirty="0" err="1">
                <a:ea typeface="Source Sans Pro"/>
              </a:rPr>
              <a:t>implementacion</a:t>
            </a:r>
            <a:r>
              <a:rPr lang="es-ES" sz="1600" dirty="0">
                <a:ea typeface="Source Sans Pro"/>
              </a:rPr>
              <a:t> y uso son fundamentales para cualquier desarrollador web que busque crear un sitio accesible y </a:t>
            </a:r>
            <a:r>
              <a:rPr lang="es-ES" sz="1600" dirty="0" err="1">
                <a:ea typeface="Source Sans Pro"/>
              </a:rPr>
              <a:t>facil</a:t>
            </a:r>
            <a:r>
              <a:rPr lang="es-ES" sz="1600" dirty="0">
                <a:ea typeface="Source Sans Pro"/>
              </a:rPr>
              <a:t> de navegar.</a:t>
            </a:r>
            <a:endParaRPr lang="es-ES">
              <a:ea typeface="Source Sans Pro"/>
            </a:endParaRP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0C8FA207-53D3-4237-A057-8F03251DDE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39512" y="5503164"/>
            <a:ext cx="6958584" cy="1371600"/>
          </a:xfrm>
        </p:spPr>
        <p:txBody>
          <a:bodyPr rtlCol="0"/>
          <a:lstStyle/>
          <a:p>
            <a:pPr rtl="0"/>
            <a:r>
              <a:rPr lang="es-ES"/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1839708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 descr="fotografía de la señal de Wall Street&#10;">
            <a:extLst>
              <a:ext uri="{FF2B5EF4-FFF2-40B4-BE49-F238E27FC236}">
                <a16:creationId xmlns:a16="http://schemas.microsoft.com/office/drawing/2014/main" id="{7EA54CDC-A10B-4928-83AD-8A873A126A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0648DE95-334E-46CE-B3A6-AEEB61BA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s-ES"/>
              <a:t>Gracias</a:t>
            </a:r>
          </a:p>
        </p:txBody>
      </p:sp>
      <p:sp>
        <p:nvSpPr>
          <p:cNvPr id="23" name="Marcador de contenido 22">
            <a:extLst>
              <a:ext uri="{FF2B5EF4-FFF2-40B4-BE49-F238E27FC236}">
                <a16:creationId xmlns:a16="http://schemas.microsoft.com/office/drawing/2014/main" id="{80E486CF-8877-4DB4-98D3-2CD9F1CB33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467603" y="4681728"/>
            <a:ext cx="3838731" cy="1645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>
                <a:ea typeface="Source Sans Pro"/>
              </a:rPr>
              <a:t>Karime</a:t>
            </a:r>
            <a:r>
              <a:rPr lang="es-ES" dirty="0">
                <a:ea typeface="Source Sans Pro"/>
              </a:rPr>
              <a:t> Scarlett </a:t>
            </a:r>
            <a:r>
              <a:rPr lang="es-ES" dirty="0" err="1">
                <a:ea typeface="Source Sans Pro"/>
              </a:rPr>
              <a:t>Sanchez</a:t>
            </a:r>
            <a:r>
              <a:rPr lang="es-ES" dirty="0">
                <a:ea typeface="Source Sans Pro"/>
              </a:rPr>
              <a:t> Ruiz</a:t>
            </a:r>
          </a:p>
          <a:p>
            <a:r>
              <a:rPr lang="es-ES" dirty="0" err="1">
                <a:ea typeface="Source Sans Pro"/>
              </a:rPr>
              <a:t>Karol</a:t>
            </a:r>
            <a:r>
              <a:rPr lang="es-ES" dirty="0">
                <a:ea typeface="Source Sans Pro"/>
              </a:rPr>
              <a:t> Paola Cruz Cervantes</a:t>
            </a:r>
          </a:p>
          <a:p>
            <a:r>
              <a:rPr lang="es-ES" dirty="0">
                <a:ea typeface="Source Sans Pro"/>
              </a:rPr>
              <a:t>Erika Fabiola Cerv</a:t>
            </a:r>
            <a:r>
              <a:rPr lang="es-ES">
                <a:ea typeface="Source Sans Pro"/>
              </a:rPr>
              <a:t>antes Nicolas</a:t>
            </a:r>
          </a:p>
          <a:p>
            <a:r>
              <a:rPr lang="es-ES" dirty="0">
                <a:ea typeface="Source Sans Pro"/>
              </a:rPr>
              <a:t>Vanessa </a:t>
            </a:r>
            <a:r>
              <a:rPr lang="es-ES">
                <a:ea typeface="Source Sans Pro"/>
              </a:rPr>
              <a:t>Rodríguez</a:t>
            </a:r>
            <a:r>
              <a:rPr lang="es-ES" dirty="0">
                <a:ea typeface="Source Sans Pro"/>
              </a:rPr>
              <a:t> Hermosillo</a:t>
            </a: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FFBA0FCD-5060-4B39-B311-BE2FE37C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6819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" id="{0A08F99B-73B1-4377-A04A-CCDBBDCD25D8}" vid="{5CED1285-8ECB-4128-A72E-4C5B72C5D49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128202-8B3F-47B2-95DE-323A94AC48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C3E0D1-381F-4FED-835E-9337ECD9B23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8C9C157-B2BF-48C0-AA17-2CECF9CDD00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1082</Words>
  <Application>Microsoft Office PowerPoint</Application>
  <PresentationFormat>Panorámica</PresentationFormat>
  <Paragraphs>282</Paragraphs>
  <Slides>11</Slides>
  <Notes>11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Hipervínculo en App Web</vt:lpstr>
      <vt:lpstr>     ¿Que son los HIPERVINCULOS?</vt:lpstr>
      <vt:lpstr>TIPOS DE HIPERVINCULOS</vt:lpstr>
      <vt:lpstr>COMPONENTES                        BASICOS</vt:lpstr>
      <vt:lpstr>Diferencias entre:</vt:lpstr>
      <vt:lpstr>Hipervínculos en el Desarrollo de Código HTML</vt:lpstr>
      <vt:lpstr>Hipervínculos en el Desarrollo de Código HTML</vt:lpstr>
      <vt:lpstr>Hipervínculos y sus aplicaciones practicas</vt:lpstr>
      <vt:lpstr>Hipervínculos y sus aplicaciones practicas</vt:lpstr>
      <vt:lpstr>CONCLUSION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997</cp:revision>
  <dcterms:created xsi:type="dcterms:W3CDTF">2026-03-16T21:20:11Z</dcterms:created>
  <dcterms:modified xsi:type="dcterms:W3CDTF">2026-03-17T03:33:23Z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